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5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30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5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C63C-D67C-68C4-6017-FEA5DF0E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8E1F6-3DF6-BC0D-F2A4-75B833D93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0A09E-D21B-FF0B-0F5D-7C362A08F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C95CE-0096-BAC5-45F2-2A28D1D56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89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2" y="-1"/>
            <a:ext cx="9144001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72000" cy="51434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01417"/>
            <a:ext cx="4572000" cy="3342084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415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1712"/>
            <a:ext cx="7372513" cy="54864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4" y="1508760"/>
            <a:ext cx="8551926" cy="3291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296037" y="1278627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4271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0"/>
            <a:ext cx="4572000" cy="51434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1729" y="3173504"/>
            <a:ext cx="5392271" cy="1969996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715000" y="157734"/>
            <a:ext cx="1104901" cy="27432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873691" y="157734"/>
            <a:ext cx="1636013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5784" y="157734"/>
            <a:ext cx="336604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587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849910"/>
            <a:ext cx="8723609" cy="1369256"/>
          </a:xfrm>
        </p:spPr>
        <p:txBody>
          <a:bodyPr anchor="t"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13" y="4013420"/>
            <a:ext cx="5426966" cy="578457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2574091"/>
            <a:ext cx="9144000" cy="1368775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4453975" y="-747639"/>
            <a:ext cx="1368776" cy="8011274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493188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275417" y="275419"/>
            <a:ext cx="5149767" cy="4598932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483461" y="1730498"/>
            <a:ext cx="4896464" cy="19295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3162082"/>
            <a:ext cx="6665474" cy="19834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875" y="714375"/>
            <a:ext cx="6665474" cy="4227599"/>
          </a:xfrm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9494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1338" y="0"/>
            <a:ext cx="5700139" cy="51435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2557085"/>
            <a:ext cx="5707226" cy="2586415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296112" y="-281862"/>
            <a:ext cx="5143500" cy="5707226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891460" y="313483"/>
            <a:ext cx="4138584" cy="5521450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7" y="1285873"/>
            <a:ext cx="3720463" cy="3542157"/>
          </a:xfrm>
        </p:spPr>
        <p:txBody>
          <a:bodyPr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32026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4174" y="935214"/>
            <a:ext cx="2553208" cy="3692389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6001920" y="571500"/>
            <a:ext cx="288036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299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0965" y="-2"/>
            <a:ext cx="9133034" cy="3369303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542927" y="871467"/>
            <a:ext cx="8601073" cy="2497835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0966" y="-5599"/>
            <a:ext cx="4582966" cy="1875307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101693"/>
            <a:ext cx="3822132" cy="1845981"/>
          </a:xfrm>
        </p:spPr>
        <p:txBody>
          <a:bodyPr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14325" y="157586"/>
            <a:ext cx="1548067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57750" y="157586"/>
            <a:ext cx="2438631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5537" y="871466"/>
            <a:ext cx="3118619" cy="207620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369302"/>
            <a:ext cx="9144000" cy="177419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124799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9144000" cy="5152184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295592"/>
            <a:ext cx="9144001" cy="3847906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3213787" y="-778030"/>
            <a:ext cx="5152184" cy="6708243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2690039" y="-511279"/>
            <a:ext cx="5087374" cy="6222179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296037" y="4575810"/>
            <a:ext cx="8551926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9144000" cy="3961068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3" y="685800"/>
            <a:ext cx="5623560" cy="196596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3" y="2926080"/>
            <a:ext cx="5623560" cy="1371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57506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293851" y="580386"/>
            <a:ext cx="8850149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580385"/>
            <a:ext cx="8269941" cy="1225703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38608"/>
            <a:ext cx="2204390" cy="157261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0501" y="157586"/>
            <a:ext cx="2204618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500" y="1438609"/>
            <a:ext cx="3743325" cy="3099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5899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14375"/>
            <a:ext cx="2499588" cy="118643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4489"/>
            <a:ext cx="822960" cy="27432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120784" y="155468"/>
            <a:ext cx="1229529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355570" y="157586"/>
            <a:ext cx="370332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2324862"/>
            <a:ext cx="2499588" cy="2290572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71450" indent="0">
              <a:buNone/>
              <a:defRPr sz="105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114675" y="0"/>
            <a:ext cx="6029325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297966" y="2108458"/>
            <a:ext cx="243460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2589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3211538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9144000" cy="289805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3211538"/>
            <a:ext cx="5257799" cy="114973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6314" y="4697730"/>
            <a:ext cx="1319466" cy="27432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4697730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243" y="4697730"/>
            <a:ext cx="45410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1496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88" y="716858"/>
            <a:ext cx="3086100" cy="93303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52197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602073" y="157586"/>
            <a:ext cx="1114425" cy="27432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32072" y="157586"/>
            <a:ext cx="1395348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18988" y="2093275"/>
            <a:ext cx="3086100" cy="25374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5696581" y="1856817"/>
            <a:ext cx="300850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2596008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3264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763265"/>
            <a:ext cx="5257799" cy="17830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2878282"/>
            <a:ext cx="9144000" cy="2265218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19158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1028700"/>
            <a:ext cx="2606040" cy="17145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43276" y="157586"/>
            <a:ext cx="2144480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708680" y="157586"/>
            <a:ext cx="45410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3275" y="1028700"/>
            <a:ext cx="2526584" cy="3526457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8284" y="0"/>
            <a:ext cx="2595716" cy="515015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3578304"/>
            <a:ext cx="3655996" cy="1571854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1" y="2889682"/>
            <a:ext cx="2117325" cy="2267135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579501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0852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14375"/>
            <a:ext cx="5063345" cy="93815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2897"/>
            <a:ext cx="1714500" cy="27432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43100" y="152897"/>
            <a:ext cx="2081252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85502" y="152897"/>
            <a:ext cx="648596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1807888"/>
            <a:ext cx="5066636" cy="28555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15000" y="0"/>
            <a:ext cx="34290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2779573"/>
            <a:ext cx="5715000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4197834"/>
            <a:ext cx="5715000" cy="945666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4965192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8354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2125979"/>
            <a:ext cx="2260787" cy="2194560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3347" y="0"/>
            <a:ext cx="9157347" cy="181507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0" y="2125980"/>
            <a:ext cx="5400675" cy="2194560"/>
          </a:xfrm>
        </p:spPr>
        <p:txBody>
          <a:bodyPr>
            <a:noAutofit/>
          </a:bodyPr>
          <a:lstStyle>
            <a:lvl1pPr marL="214313" indent="-214313">
              <a:buFont typeface="Arial" panose="020B0604020202020204" pitchFamily="34" charset="0"/>
              <a:buNone/>
              <a:defRPr sz="1350"/>
            </a:lvl1pPr>
            <a:lvl2pPr marL="385763" indent="-214313">
              <a:buFont typeface="Arial" panose="020B0604020202020204" pitchFamily="34" charset="0"/>
              <a:buNone/>
              <a:defRPr sz="120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900"/>
            </a:lvl4pPr>
            <a:lvl5pPr marL="814388" indent="-128588">
              <a:buFont typeface="Arial" panose="020B0604020202020204" pitchFamily="34" charset="0"/>
              <a:buNone/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4705525"/>
            <a:ext cx="2260787" cy="27432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60420" y="4705525"/>
            <a:ext cx="2371725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469630" y="4705525"/>
            <a:ext cx="426688" cy="27432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1563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8200"/>
            <a:ext cx="2630564" cy="1048871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9951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514" y="2010336"/>
            <a:ext cx="2518364" cy="274656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1628776" y="4385299"/>
            <a:ext cx="7515224" cy="758201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5825523" y="1825022"/>
            <a:ext cx="3708025" cy="292892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3320118" y="806824"/>
            <a:ext cx="0" cy="3708026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99509" y="758199"/>
            <a:ext cx="4869180" cy="39090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92127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4859"/>
            <a:ext cx="2564535" cy="1392415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59227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6792" y="2283781"/>
            <a:ext cx="2504057" cy="247311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9226" y="764858"/>
            <a:ext cx="5486400" cy="4183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718823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49" y="3680709"/>
            <a:ext cx="3990214" cy="1079155"/>
          </a:xfrm>
        </p:spPr>
        <p:txBody>
          <a:bodyPr anchor="t"/>
          <a:lstStyle>
            <a:lvl1pPr>
              <a:lnSpc>
                <a:spcPct val="10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978" y="575072"/>
            <a:ext cx="8490347" cy="2616994"/>
          </a:xfrm>
        </p:spPr>
        <p:txBody>
          <a:bodyPr/>
          <a:lstStyle>
            <a:lvl1pPr>
              <a:lnSpc>
                <a:spcPct val="85000"/>
              </a:lnSpc>
              <a:defRPr sz="18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296037" y="3496682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85337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9144002" cy="51435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2762599" y="0"/>
            <a:ext cx="6381401" cy="51435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252806" y="-1252806"/>
            <a:ext cx="5619408" cy="812502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7255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3773806" y="-15252"/>
            <a:ext cx="5370194" cy="5158752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6720" y="2028435"/>
            <a:ext cx="9137279" cy="3115066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740" y="2028709"/>
            <a:ext cx="7350919" cy="2653904"/>
          </a:xfrm>
        </p:spPr>
        <p:txBody>
          <a:bodyPr anchor="b"/>
          <a:lstStyle>
            <a:lvl1pPr>
              <a:lnSpc>
                <a:spcPct val="100000"/>
              </a:lnSpc>
              <a:defRPr sz="4050"/>
            </a:lvl1pPr>
            <a:lvl2pPr>
              <a:lnSpc>
                <a:spcPct val="100000"/>
              </a:lnSpc>
              <a:defRPr sz="3600"/>
            </a:lvl2pPr>
            <a:lvl3pPr>
              <a:lnSpc>
                <a:spcPct val="100000"/>
              </a:lnSpc>
              <a:defRPr sz="33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27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30961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96059"/>
            <a:ext cx="9144000" cy="225808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000254" y="-2000247"/>
            <a:ext cx="5143497" cy="91439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3286125" y="-3280077"/>
            <a:ext cx="2571750" cy="913190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725839"/>
            <a:ext cx="6363081" cy="789011"/>
          </a:xfrm>
        </p:spPr>
        <p:txBody>
          <a:bodyPr anchor="ctr">
            <a:normAutofit/>
          </a:bodyPr>
          <a:lstStyle>
            <a:lvl1pPr marL="102870" indent="-102870">
              <a:lnSpc>
                <a:spcPct val="100000"/>
              </a:lnSpc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054289"/>
            <a:ext cx="6363081" cy="2315717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1pPr>
            <a:lvl2pPr marL="1714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2pPr>
            <a:lvl3pPr marL="34290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3pPr>
            <a:lvl4pPr marL="5143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4pPr>
            <a:lvl5pPr marL="685800" indent="0">
              <a:lnSpc>
                <a:spcPct val="100000"/>
              </a:lnSpc>
              <a:buNone/>
              <a:defRPr lang="en-US" sz="27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1557964" y="3608110"/>
            <a:ext cx="6205292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80836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71500"/>
            <a:ext cx="5259664" cy="1036074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296037" y="2274728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3573781" y="-426721"/>
            <a:ext cx="1996439" cy="9144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3387090" y="-613411"/>
            <a:ext cx="2369820" cy="9144002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423" y="2571750"/>
            <a:ext cx="8378774" cy="18492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64646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3765692" y="-1822598"/>
            <a:ext cx="1368776" cy="890016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1943093"/>
            <a:ext cx="9144000" cy="1368775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71500"/>
            <a:ext cx="4571999" cy="1090880"/>
          </a:xfrm>
        </p:spPr>
        <p:txBody>
          <a:bodyPr anchor="t">
            <a:normAutofit/>
          </a:bodyPr>
          <a:lstStyle>
            <a:lvl1pPr>
              <a:defRPr sz="4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1" y="2503170"/>
            <a:ext cx="2696378" cy="21214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900" dirty="0"/>
            </a:lvl3pPr>
            <a:lvl4pPr marL="514350" indent="0">
              <a:buNone/>
              <a:defRPr lang="en-US" sz="825" dirty="0"/>
            </a:lvl4pPr>
            <a:lvl5pPr marL="685800" indent="0">
              <a:buNone/>
              <a:defRPr lang="en-US" sz="788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90513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143875" cy="5192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354931"/>
            <a:ext cx="3874294" cy="34397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354931"/>
            <a:ext cx="3743325" cy="34397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296037" y="1188720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35831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689086" cy="4965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331834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869360"/>
            <a:ext cx="3874294" cy="2925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0630" y="1331833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869360"/>
            <a:ext cx="3886430" cy="2925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296037" y="1184951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2596710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4380"/>
            <a:ext cx="7429500" cy="60078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5292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4552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72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651855"/>
            <a:ext cx="8703035" cy="726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" y="157586"/>
            <a:ext cx="13194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6864" y="157586"/>
            <a:ext cx="188196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5243" y="157586"/>
            <a:ext cx="45410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535464"/>
            <a:ext cx="8703035" cy="3175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296037" y="563485"/>
            <a:ext cx="855192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3923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2" r:id="rId17"/>
    <p:sldLayoutId id="2147484003" r:id="rId18"/>
    <p:sldLayoutId id="2147484004" r:id="rId19"/>
    <p:sldLayoutId id="2147484005" r:id="rId20"/>
    <p:sldLayoutId id="2147484006" r:id="rId21"/>
    <p:sldLayoutId id="2147484007" r:id="rId22"/>
    <p:sldLayoutId id="2147484008" r:id="rId23"/>
    <p:sldLayoutId id="2147484009" r:id="rId24"/>
    <p:sldLayoutId id="2147484010" r:id="rId25"/>
    <p:sldLayoutId id="2147484011" r:id="rId26"/>
    <p:sldLayoutId id="2147484012" r:id="rId27"/>
    <p:sldLayoutId id="2147484013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1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br>
              <a:rPr lang="en-UZ" dirty="0"/>
            </a:br>
            <a:endParaRPr lang="en-UZ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1371600" cy="13716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Radar AI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53035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ochishdan </a:t>
            </a:r>
            <a:r>
              <a:rPr lang="en-US" sz="13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oldingi</a:t>
            </a: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tahlilchisi</a:t>
            </a: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yordamida g'oyangizni tekshiring, keyin pul tiking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000" dirty="0"/>
          </a:p>
        </p:txBody>
      </p:sp>
      <p:pic>
        <p:nvPicPr>
          <p:cNvPr id="16" name="Picture 15" descr="A logo for a company&#10;&#10;AI-generated content may be incorrect.">
            <a:extLst>
              <a:ext uri="{FF2B5EF4-FFF2-40B4-BE49-F238E27FC236}">
                <a16:creationId xmlns:a16="http://schemas.microsoft.com/office/drawing/2014/main" id="{2354FF6D-7E93-461A-65AE-A2574F6E5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" y="1274445"/>
            <a:ext cx="1474470" cy="14744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BB6461-3F1F-96F4-234B-678BD73730A4}"/>
              </a:ext>
            </a:extLst>
          </p:cNvPr>
          <p:cNvSpPr txBox="1"/>
          <p:nvPr/>
        </p:nvSpPr>
        <p:spPr>
          <a:xfrm>
            <a:off x="4634524" y="3837071"/>
            <a:ext cx="4579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b="1" dirty="0">
                <a:latin typeface="Calibri" panose="020F0502020204030204" pitchFamily="34" charset="0"/>
                <a:cs typeface="Calibri" panose="020F0502020204030204" pitchFamily="34" charset="0"/>
              </a:rPr>
              <a:t>‘’Xorazm guch’’ jamoasi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KIMMIZ?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tadbirkorlar uchun AI-asosidagi biznes tekshiruv platformasi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92608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2011680"/>
          </a:xfrm>
          <a:prstGeom prst="line">
            <a:avLst/>
          </a:prstGeom>
          <a:solidFill>
            <a:srgbClr val="E5534B">
              <a:alpha val="8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kimmiz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5303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34440"/>
            <a:ext cx="54864" cy="32004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490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tavsifi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493776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749040" y="2057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Biznes Radar AI — g'oyangizni ochishdan oldin AI va moliyaviy formulalar bilan sinab ko'ruvchi veb-platforma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Bozor imkoniyati, raqobat, zararsizlik nuqtasi va xavfni soniyalarda hisoblab, to'liq biznes-reja hisobotini generatsiya qiladi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O'zbek tilida, so'mda va mahalliy soliq tizimiga (YATT/MCHJ) moslashgan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1600BA-4F12-8692-236B-A10963A49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17320"/>
            <a:ext cx="2777038" cy="2783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tadbirkorlar hisob-kitobsiz, intuitsiya bilan biznes ochib, kapitalini yo'qotmoqda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solidFill>
            <a:srgbClr val="E5534B">
              <a:alpha val="85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bizga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ehtiyoj bor?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91640" y="3182112"/>
            <a:ext cx="7315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3840480" y="1207008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3977640" y="1371600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1353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Hisob-kitobsiz qarorlar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17556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tadbirkor zararsizlik nuqtasi, marja va xarajatni oldindan hisoblamay biznes ochadi va birinchi oylarda kapitalini yo'qotadi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2834640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9" name="Shape 17"/>
          <p:cNvSpPr/>
          <p:nvPr/>
        </p:nvSpPr>
        <p:spPr>
          <a:xfrm>
            <a:off x="3840480" y="2834640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977640" y="2999232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4840" y="2980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Konsalting yetishmasligi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moliyaviy maslahat qimmat va viloyatlarda deyarli topilmaydi — tadbirkor ko'r-ko'rona qaror qabul qiladi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55B1A94-747D-DB0B-B255-DABD10299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353311"/>
            <a:ext cx="2946009" cy="29460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4B69-C3B1-027E-A3A2-0955F86D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4AB34E-0DA6-2378-CD0E-70F9C140D868}"/>
              </a:ext>
            </a:extLst>
          </p:cNvPr>
          <p:cNvSpPr/>
          <p:nvPr/>
        </p:nvSpPr>
        <p:spPr>
          <a:xfrm>
            <a:off x="0" y="4763477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F805CA-7A71-E6DC-AA66-251F021456BC}"/>
              </a:ext>
            </a:extLst>
          </p:cNvPr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</a:p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C39036-249D-BCA5-4DB3-30997C8A2163}"/>
              </a:ext>
            </a:extLst>
          </p:cNvPr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YECHIM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0FE091-00C2-9827-AC58-224BBCD138B4}"/>
              </a:ext>
            </a:extLst>
          </p:cNvPr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B83439-868A-2D25-29D9-FECEDA6B67AA}"/>
              </a:ext>
            </a:extLst>
          </p:cNvPr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</a:t>
            </a:r>
            <a:r>
              <a:rPr lang="en-US" sz="12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tadbirkorlar</a:t>
            </a: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biz </a:t>
            </a:r>
            <a:r>
              <a:rPr lang="en-US" sz="12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ko’rsatadigan</a:t>
            </a: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211CAB2-BB67-1EB3-DBD8-43DCFA3BBD8A}"/>
              </a:ext>
            </a:extLst>
          </p:cNvPr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17087D0-933B-C1A8-8602-D4C6C0C0E6A1}"/>
              </a:ext>
            </a:extLst>
          </p:cNvPr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80E340-E1F4-5DAC-00BC-A4B9365E6DE3}"/>
              </a:ext>
            </a:extLst>
          </p:cNvPr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solidFill>
            <a:srgbClr val="E5534B">
              <a:alpha val="85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2290321-5586-3C95-9D94-4264A2249AEB}"/>
              </a:ext>
            </a:extLst>
          </p:cNvPr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bizga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ehtiyoj bor?</a:t>
            </a:r>
            <a:endParaRPr lang="en-US" sz="1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3B1CEA5-367D-55BC-95DF-57861E50386A}"/>
              </a:ext>
            </a:extLst>
          </p:cNvPr>
          <p:cNvSpPr/>
          <p:nvPr/>
        </p:nvSpPr>
        <p:spPr>
          <a:xfrm>
            <a:off x="1691640" y="3182112"/>
            <a:ext cx="7315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DCB55A-4AC1-6412-2243-8B86607A283B}"/>
              </a:ext>
            </a:extLst>
          </p:cNvPr>
          <p:cNvSpPr/>
          <p:nvPr/>
        </p:nvSpPr>
        <p:spPr>
          <a:xfrm>
            <a:off x="3840480" y="1207008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803C367-F6FA-4251-686C-6BE4ADD2CA47}"/>
              </a:ext>
            </a:extLst>
          </p:cNvPr>
          <p:cNvSpPr/>
          <p:nvPr/>
        </p:nvSpPr>
        <p:spPr>
          <a:xfrm>
            <a:off x="3840480" y="1207008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FC3916-7955-EFD4-38E3-8A07832ECEB5}"/>
              </a:ext>
            </a:extLst>
          </p:cNvPr>
          <p:cNvSpPr/>
          <p:nvPr/>
        </p:nvSpPr>
        <p:spPr>
          <a:xfrm>
            <a:off x="3977640" y="1371600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CAD80DE-E66C-3E1D-FE01-8CF35C9FF997}"/>
              </a:ext>
            </a:extLst>
          </p:cNvPr>
          <p:cNvSpPr/>
          <p:nvPr/>
        </p:nvSpPr>
        <p:spPr>
          <a:xfrm>
            <a:off x="3977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0994A80-37DE-4B97-A532-E1EF8E2EE615}"/>
              </a:ext>
            </a:extLst>
          </p:cNvPr>
          <p:cNvSpPr/>
          <p:nvPr/>
        </p:nvSpPr>
        <p:spPr>
          <a:xfrm>
            <a:off x="4434840" y="1353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AI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tahlil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1C5B54-B68A-7954-7143-17712BC64302}"/>
              </a:ext>
            </a:extLst>
          </p:cNvPr>
          <p:cNvSpPr/>
          <p:nvPr/>
        </p:nvSpPr>
        <p:spPr>
          <a:xfrm>
            <a:off x="3977640" y="17556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 AI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o’zi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bozorni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to’liq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o’rganib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undagi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narxlar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talab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takliflarni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ko’rib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chiqib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chiqaradi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3E73765-A169-03BF-F478-D309A24D84B9}"/>
              </a:ext>
            </a:extLst>
          </p:cNvPr>
          <p:cNvSpPr/>
          <p:nvPr/>
        </p:nvSpPr>
        <p:spPr>
          <a:xfrm>
            <a:off x="3840480" y="2834640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2CA2E3D-0C1A-8135-0235-2371CE872CAB}"/>
              </a:ext>
            </a:extLst>
          </p:cNvPr>
          <p:cNvSpPr/>
          <p:nvPr/>
        </p:nvSpPr>
        <p:spPr>
          <a:xfrm>
            <a:off x="3840480" y="2834640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01464F6-35CE-92D4-7C1B-221CFEB6A34A}"/>
              </a:ext>
            </a:extLst>
          </p:cNvPr>
          <p:cNvSpPr/>
          <p:nvPr/>
        </p:nvSpPr>
        <p:spPr>
          <a:xfrm>
            <a:off x="3977640" y="2999232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ED623B2-20BC-37DA-B616-0ACEB2FF06B4}"/>
              </a:ext>
            </a:extLst>
          </p:cNvPr>
          <p:cNvSpPr/>
          <p:nvPr/>
        </p:nvSpPr>
        <p:spPr>
          <a:xfrm>
            <a:off x="397764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221A941-8CF9-7DE0-59CB-06F7FBDF2544}"/>
              </a:ext>
            </a:extLst>
          </p:cNvPr>
          <p:cNvSpPr/>
          <p:nvPr/>
        </p:nvSpPr>
        <p:spPr>
          <a:xfrm>
            <a:off x="4434840" y="2980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217EB82-E93D-6781-C15A-F915C3CD871F}"/>
              </a:ext>
            </a:extLst>
          </p:cNvPr>
          <p:cNvSpPr/>
          <p:nvPr/>
        </p:nvSpPr>
        <p:spPr>
          <a:xfrm>
            <a:off x="397764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Boshlangich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tadbirkorlar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uchun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qurish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yechimlarni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qiladi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483E1E7-9C59-0543-3407-4E200FADEF0E}"/>
              </a:ext>
            </a:extLst>
          </p:cNvPr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F338858-6608-9C31-96A0-14D64A422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53312"/>
            <a:ext cx="3011962" cy="301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6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kichik tadbirkorlik bozori — Davstatqo'm ma'lumotlari asosida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A10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29844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98448"/>
            <a:ext cx="502920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03320" y="13898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1,2 mln+ tadbirkorlik subyekti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792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mavjud bozor — O'zbekistonda faoliyat yurituvchi barcha kichik tadbirkorlar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30428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3703320" y="239572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250–300 ming yangi tadbirkor/yil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798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Geografik segment — yiliga yangi ro'yxatdan o'tayotgan tadbirkorlik subyektlari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1012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703320" y="34015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5,000–15,000 foydalanuvchi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Qamrab oladigan segment — Xorazm va qo'shni viloyatlardagi raqamli-savodli yosh tadbirkorlar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Maqsadli auditoriya: 22–45 yosh, 10–50 mln so'm kapital bilan birinchi/ikkinchi marta biznes ochmoqchi bo'lgan savdo va xizmat sohasi tadbirkorlari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890177-57B9-F436-9E4A-066F9F1EE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48" r="16974"/>
          <a:stretch>
            <a:fillRect/>
          </a:stretch>
        </p:blipFill>
        <p:spPr>
          <a:xfrm>
            <a:off x="518665" y="1449200"/>
            <a:ext cx="2864614" cy="25467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VA RAQOBATCHILAR TAHLILI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bozoriga moslashgan yagona AI-asosidagi yechim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solidFill>
            <a:srgbClr val="E5534B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Radar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AI vositalar (LivePlan va h.k.)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konsalting/bank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tilida, so'mda ishlaydi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Soliq tizimiga (YATT/MCHJ) moslashgan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orqali soniyalarda tahlil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6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Narxi / qulayligi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Shape 46"/>
          <p:cNvSpPr/>
          <p:nvPr/>
        </p:nvSpPr>
        <p:spPr>
          <a:xfrm>
            <a:off x="457200" y="3886200"/>
            <a:ext cx="84124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yechim — til, so'm va soliq tizimiga moslashgan, arzon va soniyalarda natija beruvchi AI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Freemium: bepul tekshiruv, keyin obuna orqali to'liq tahlil va biznes-reja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0F1A0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20700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977640" y="1298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16824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Yakka tadbirkorlar (B2C), keyinchalik banklar va tadbirkorlikni qo'llab-quvvatlash markazlari (B2B2C)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225856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3840480" y="225856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3977640" y="23500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 to'laydi?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7340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</a:t>
            </a:r>
            <a:r>
              <a:rPr lang="en-US" sz="11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</a:t>
            </a: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199,000–299,000 so'm yoki bitta hisobot uchun 25,000–35,000 so'm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0" y="331012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840480" y="331012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3401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7856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Bank/investor uchun kerak bo'lgan professional biznes-rejani kunlar o'rniga daqiqalarda va arzonroq beradi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Unit economics: past CAC (tadbirkorlar hamjamiyati orqali organik o'sish), obuna orqali LTV oshadi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3B7E521-079C-95E8-138D-96B77D988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5" r="14934"/>
          <a:stretch>
            <a:fillRect/>
          </a:stretch>
        </p:blipFill>
        <p:spPr>
          <a:xfrm>
            <a:off x="512064" y="1453610"/>
            <a:ext cx="3114005" cy="2492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Maqsadlar va KPI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9808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2078892" y="685800"/>
            <a:ext cx="62878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MVP'dan 3 yillik mintaqaviy kengayishgacha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77240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8366760" y="25146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933" y="2569462"/>
            <a:ext cx="274320" cy="27432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914517" y="1929382"/>
            <a:ext cx="36576" cy="640080"/>
          </a:xfrm>
          <a:prstGeom prst="rect">
            <a:avLst/>
          </a:prstGeom>
          <a:solidFill>
            <a:srgbClr val="E5534B">
              <a:alpha val="60000"/>
            </a:srgbClr>
          </a:solidFill>
          <a:ln w="12700">
            <a:solidFill>
              <a:srgbClr val="E553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338328" y="1013394"/>
            <a:ext cx="15087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 dirty="0"/>
          </a:p>
        </p:txBody>
      </p:sp>
      <p:sp>
        <p:nvSpPr>
          <p:cNvPr id="12" name="Shape 10"/>
          <p:cNvSpPr/>
          <p:nvPr/>
        </p:nvSpPr>
        <p:spPr>
          <a:xfrm>
            <a:off x="338328" y="1005839"/>
            <a:ext cx="1508760" cy="45719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-9144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Hozir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" y="1353311"/>
            <a:ext cx="1645920" cy="665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dan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boshlab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</a:t>
            </a:r>
            <a:endParaRPr lang="en-US" sz="10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514600"/>
            <a:ext cx="274320" cy="27432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2724912" y="2788920"/>
            <a:ext cx="36576" cy="64008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192024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1920240" y="3429000"/>
            <a:ext cx="1645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92024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500–1,000 foydalanuvchi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pullik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obunachilar</a:t>
            </a:r>
            <a:endParaRPr lang="en-US" sz="10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Taxminan:50,000,000so’m+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514600"/>
            <a:ext cx="274320" cy="27432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4736592" y="1874520"/>
            <a:ext cx="36576" cy="6400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3931920" y="100584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 dirty="0"/>
          </a:p>
        </p:txBody>
      </p:sp>
      <p:sp>
        <p:nvSpPr>
          <p:cNvPr id="24" name="Shape 22"/>
          <p:cNvSpPr/>
          <p:nvPr/>
        </p:nvSpPr>
        <p:spPr>
          <a:xfrm>
            <a:off x="3931920" y="1005840"/>
            <a:ext cx="1645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393192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1353312"/>
            <a:ext cx="17211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foydalanuvchi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</a:t>
            </a:r>
            <a:endParaRPr lang="en-US" sz="10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Taxminan:200.000.000so’m+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514600"/>
            <a:ext cx="274320" cy="274320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6748272" y="2788920"/>
            <a:ext cx="36576" cy="64008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Shape 27"/>
          <p:cNvSpPr/>
          <p:nvPr/>
        </p:nvSpPr>
        <p:spPr>
          <a:xfrm>
            <a:off x="594360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 dirty="0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1645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594360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yil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599" y="3776472"/>
            <a:ext cx="1715477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foydalanuvchi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Osiyoga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kengayish</a:t>
            </a:r>
            <a:b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Taxminan:800.000.000so’m+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Bosqichma-bosqich: MVP → mahalliy foydalanuvchilar → mintaqaviy kengayish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JAMOA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1160585" y="1165860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160585" y="1165860"/>
            <a:ext cx="2011680" cy="457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1709225" y="1330452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1709225" y="13304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2025" y="2510028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Yo’ldoshev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Zafarbek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52025" y="27203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developer, 5yil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34905" y="308610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1252025" y="3305556"/>
            <a:ext cx="18288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hajmdagi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</a:t>
            </a:r>
            <a:endParaRPr lang="en-US" sz="950" i="1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20+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kichik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hajmdagi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 real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loyihalar</a:t>
            </a:r>
            <a:b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Jamoaviy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ishlash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ko’nikmasi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36857" y="1165860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3336857" y="116586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3885497" y="1330452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3885497" y="13304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28297" y="24643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Matchanov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Amirxon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8297" y="27203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cs typeface="Calibri" pitchFamily="34" charset="-120"/>
              </a:rPr>
              <a:t>Backend, AI developer, 2yil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177" y="308610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428297" y="33604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real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</a:t>
            </a:r>
            <a:b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Jamoaviy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ishlash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ko’nikmasi</a:t>
            </a:r>
            <a:b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13129" y="1165860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5513129" y="1165860"/>
            <a:ext cx="20116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6061769" y="1330452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6061769" y="13304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604569" y="2491974"/>
            <a:ext cx="1828800" cy="210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To’xtaboyev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Doniyor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04569" y="27203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UI-UX, 4yil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87449" y="308610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5604569" y="3369564"/>
            <a:ext cx="18288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</a:t>
            </a:r>
            <a:endParaRPr lang="en-US" sz="950" i="1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50+kichik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loyihalar</a:t>
            </a:r>
            <a:b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Jamoaviy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ishlash</a:t>
            </a: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9CA3AF"/>
                </a:solidFill>
                <a:latin typeface="Calibri" pitchFamily="34" charset="0"/>
                <a:cs typeface="Calibri" pitchFamily="34" charset="-120"/>
              </a:rPr>
              <a:t>ko’nikmasi</a:t>
            </a:r>
            <a:endParaRPr lang="en-US" sz="950" dirty="0"/>
          </a:p>
        </p:txBody>
      </p:sp>
      <p:pic>
        <p:nvPicPr>
          <p:cNvPr id="35" name="Picture 34" descr="A person giving a thumbs up&#10;&#10;AI-generated content may be incorrect.">
            <a:extLst>
              <a:ext uri="{FF2B5EF4-FFF2-40B4-BE49-F238E27FC236}">
                <a16:creationId xmlns:a16="http://schemas.microsoft.com/office/drawing/2014/main" id="{F35AA9D0-CA7B-0AF9-9038-8EC5B8258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62" t="21564" r="9205" b="23042"/>
          <a:stretch>
            <a:fillRect/>
          </a:stretch>
        </p:blipFill>
        <p:spPr>
          <a:xfrm>
            <a:off x="1564032" y="1303020"/>
            <a:ext cx="1207598" cy="112014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050345E-DA35-60A4-AA1F-730F6AE929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71" t="26222" r="3760" b="13689"/>
          <a:stretch>
            <a:fillRect/>
          </a:stretch>
        </p:blipFill>
        <p:spPr>
          <a:xfrm>
            <a:off x="3696347" y="1303020"/>
            <a:ext cx="1217918" cy="1143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8B05331-1860-F876-4BED-8A9CE316B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508" y="1297822"/>
            <a:ext cx="1166720" cy="1166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793</TotalTime>
  <Words>579</Words>
  <Application>Microsoft Macintosh PowerPoint</Application>
  <PresentationFormat>On-screen Show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Nova Light</vt:lpstr>
      <vt:lpstr>Calibri</vt:lpstr>
      <vt:lpstr>Consolas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Day Taqdimot Shabloni — AI Hackathon</dc:title>
  <dc:subject>PptxGenJS Presentation</dc:subject>
  <dc:creator>PptxGenJS</dc:creator>
  <cp:lastModifiedBy>Fourcade7</cp:lastModifiedBy>
  <cp:revision>11</cp:revision>
  <dcterms:created xsi:type="dcterms:W3CDTF">2026-03-30T19:38:21Z</dcterms:created>
  <dcterms:modified xsi:type="dcterms:W3CDTF">2026-09-19T10:47:27Z</dcterms:modified>
</cp:coreProperties>
</file>